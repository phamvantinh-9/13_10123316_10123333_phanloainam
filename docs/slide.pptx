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Thời gian huấn luyện (đo thực tế)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Thời gian train (giây)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Logistic Reg.</c:v>
                </c:pt>
                <c:pt idx="2">
                  <c:v>KNN</c:v>
                </c:pt>
                <c:pt idx="3">
                  <c:v>Random Forest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</c:v>
                </c:pt>
                <c:pt idx="1">
                  <c:v>0.88</c:v>
                </c:pt>
                <c:pt idx="2">
                  <c:v>6.97</c:v>
                </c:pt>
                <c:pt idx="3">
                  <c:v>13.92</c:v>
                </c:pt>
                <c:pt idx="4">
                  <c:v>53.59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65-432A-B55E-1AD2CAD202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10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94960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🍄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 NẤM ĂN ĐƯỢC HAY CÓ ĐỘC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học phần Học máy cơ bản (221180) — Lớp 12523W.2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 Nguyễn Đức Tuấn Anh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13  •  Thành viên: Phạm Văn </a:t>
            </a:r>
            <a:r>
              <a:rPr lang="en-US" sz="13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(MSSV 10123316)  &amp;  Bùi Quang Trường (MSSV 10123333)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&amp; Ý nghĩa thực tế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03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dữ liệu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Phân tích khám phá dữ liệu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66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dữ liệu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huấn luyện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&amp; chọn model cuối cùng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371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&amp; Docker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2148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103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Triển khai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28803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Khả năng khảo sát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3611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3566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công việc thành viên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09360" y="43434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&amp; Ý nghĩa thực tế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675120" cy="4937760"/>
          </a:xfrm>
          <a:prstGeom prst="roundRect">
            <a:avLst>
              <a:gd name="adj" fmla="val 1852"/>
            </a:avLst>
          </a:prstGeom>
          <a:solidFill>
            <a:srgbClr val="F4F1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301D"/>
                </a:solidFill>
              </a:rPr>
              <a:t>Bài toán phân loại nhị phân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</a:rPr>
              <a:t>Dự đoán một cây nấm là </a:t>
            </a:r>
            <a:r>
              <a:rPr lang="en-US" sz="1500" b="1" dirty="0">
                <a:solidFill>
                  <a:srgbClr val="4C956C"/>
                </a:solidFill>
              </a:rPr>
              <a:t>ăn được</a:t>
            </a:r>
            <a:r>
              <a:rPr lang="en-US" sz="1500" dirty="0">
                <a:solidFill>
                  <a:srgbClr val="222222"/>
                </a:solidFill>
              </a:rPr>
              <a:t> hay </a:t>
            </a:r>
            <a:r>
              <a:rPr lang="en-US" sz="1500" b="1" dirty="0">
                <a:solidFill>
                  <a:srgbClr val="C1121F"/>
                </a:solidFill>
              </a:rPr>
              <a:t>có độc</a:t>
            </a:r>
            <a:endParaRPr lang="en-US" sz="18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</a:rPr>
              <a:t>dựa trên đặc điểm hình thái quan sát được bằng mắt thường (hình dạng, màu sắc, mùi...).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4301D"/>
                </a:solidFill>
              </a:rPr>
              <a:t>Vì sao quan trọng?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Nấm dại có hình thái đa dạng, nhiều loài độc dễ gây nhầm lẫn với loài ăn được.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Hệ thống hỗ trợ cảnh báo sớm nguy cơ ngộ độc trước khi sử dụng.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Mục đích giáo dục &amp; tham khảo — không thay thế chẩn đoán chuyên môn.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06640" y="1234440"/>
            <a:ext cx="4297680" cy="2331720"/>
          </a:xfrm>
          <a:prstGeom prst="roundRect">
            <a:avLst>
              <a:gd name="adj" fmla="val 3922"/>
            </a:avLst>
          </a:prstGeom>
          <a:solidFill>
            <a:srgbClr val="EAF4EE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1463040"/>
            <a:ext cx="640080" cy="640080"/>
          </a:xfrm>
          <a:prstGeom prst="ellipse">
            <a:avLst/>
          </a:prstGeom>
          <a:solidFill>
            <a:srgbClr val="4C956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 ĐƯỢC (edible)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86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 'e' — 4.208 mẫu (51,8%)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3794760"/>
            <a:ext cx="4297680" cy="2331720"/>
          </a:xfrm>
          <a:prstGeom prst="roundRect">
            <a:avLst>
              <a:gd name="adj" fmla="val 3922"/>
            </a:avLst>
          </a:prstGeom>
          <a:solidFill>
            <a:srgbClr val="FBEAEA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402336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☠️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ĐỘC (poisonous)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4846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 'p' — 3.916 mẫu (48,2%)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dữ liệu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8.124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nấm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00400" y="1371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 tính (21 đầu vào + 1 nhãn)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2801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1371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— không có thuộc tính số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0" y="12801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0" y="1371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0đ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Domain / CC0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Kaggle — uciml/mushroom-classification (gốc từ UCI Machine Learning Repository, 1987)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thuộc tính đầu vào (ví dụ):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cap-shape, cap-surface, cap-color — hình dạng/bề mặt/màu mũ nấm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 — mùi (thuộc tính quan trọng nhất, xem EDA)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gill-color, spore-print-color — màu phiến nấm, màu bào tử 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habitat — mật độ quần thể, môi trường sống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611880"/>
            <a:ext cx="5029200" cy="2468880"/>
          </a:xfrm>
          <a:prstGeom prst="roundRect">
            <a:avLst>
              <a:gd name="adj" fmla="val 3704"/>
            </a:avLst>
          </a:prstGeom>
          <a:solidFill>
            <a:srgbClr val="FFF7E6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3720" y="3794760"/>
            <a:ext cx="502920" cy="502920"/>
          </a:xfrm>
          <a:prstGeom prst="ellipse">
            <a:avLst/>
          </a:prstGeom>
          <a:solidFill>
            <a:srgbClr val="6B44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822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xử lý dữ liệu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3434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veil-type: chỉ 1 giá trị duy nhất → loại bỏ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stalk-root: thiếu 30,5% (ký hiệu '?') → giữ làm 1 category riêng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Phân bố nhãn &amp; phát hiện quan trọng</a:t>
            </a:r>
            <a:endParaRPr lang="en-US" sz="2600" dirty="0"/>
          </a:p>
        </p:txBody>
      </p:sp>
      <p:pic>
        <p:nvPicPr>
          <p:cNvPr id="5" name="Image 0" descr="/home/claude/repo/docs/figures/fig1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566160" cy="2679192"/>
          </a:xfrm>
          <a:prstGeom prst="rect">
            <a:avLst/>
          </a:prstGeom>
        </p:spPr>
      </p:pic>
      <p:pic>
        <p:nvPicPr>
          <p:cNvPr id="6" name="Image 1" descr="/home/claude/repo/docs/figures/fig3_odor_vs_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234440"/>
            <a:ext cx="5120640" cy="28437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09760" y="1234440"/>
            <a:ext cx="2194560" cy="4892040"/>
          </a:xfrm>
          <a:prstGeom prst="roundRect">
            <a:avLst>
              <a:gd name="adj" fmla="val 4167"/>
            </a:avLst>
          </a:prstGeom>
          <a:solidFill>
            <a:srgbClr val="2C5F2D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969264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chính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692640" y="1828800"/>
            <a:ext cx="1828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lớp gần cân bằng: 51,8% / 48,2% → không cần xử lý mất cân bằng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odor='n' (không mùi) → 96,6% là ăn được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mùi khác (f,y,s,p,c,m) → gần như 100% là độc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1605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Chỉ riêng thuộc tính "mùi" đã gần như quyết định được nhãn của cây nấm.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66344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đầy đủ: 6 biểu đồ (≥5 yêu cầu) — chi tiết tại ai-models/colab/01_eda.ipynb và docs/baocao.docx mục 2.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Mối liên hệ giữa các thuộc tính (Cramér's V)</a:t>
            </a:r>
            <a:endParaRPr lang="en-US" sz="2600" dirty="0"/>
          </a:p>
        </p:txBody>
      </p:sp>
      <p:pic>
        <p:nvPicPr>
          <p:cNvPr id="5" name="Image 0" descr="/home/claude/repo/docs/figures/fig4_cramers_v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217920" cy="5120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0" y="1280160"/>
            <a:ext cx="46634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dùng Cramér's V?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thuộc tính là categorical nên không dùng tương quan Pearson thông thường.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thuộc tính liên hệ mạnh nhất với nhãn: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 — V ≈ 0,97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spore-print-color — V ≈ 0,75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gill-color — V ≈ 0,68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ring-type — V ≈ 0,60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loại thuộc tính nào ở bước EDA, để mô hình cây/boosting tự chọn đặc trưng.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 dữ liệu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1EA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16002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59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veil-type (hằng số). Giữ '?' của stalk-root làm 1 category riêng.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6517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EAF4EE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6260" y="16002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62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hoá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88036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cho 21 thuộc tính → 116 chiều nhị phân. Nhãn: e→0, p→1.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6517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1EA"/>
          </a:solidFill>
          <a:ln/>
        </p:spPr>
      </p:sp>
      <p:sp>
        <p:nvSpPr>
          <p:cNvPr id="18" name="Shape 16"/>
          <p:cNvSpPr/>
          <p:nvPr/>
        </p:nvSpPr>
        <p:spPr>
          <a:xfrm>
            <a:off x="7246620" y="16002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466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dữ liệu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88036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80/20, stratify theo class → 6.499 mẫu train, 1.625 mẫu test.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26517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9828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EAF4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26980" y="16002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269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rò rỉ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88036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trước khi mã hoá; chỉ fit() ColumnTransformer trên tập train.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áp dụng: chuẩn hoá số (Scaling — vì đã one-hot 0/1) và xử lý mất cân bằng (2 lớp đã gần cân bằng).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ra: ai-models/src/preprocess.py, ai-models/models/preprocessor.joblib, ai-models/models/schema.json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huấn luyện (1 baseline + 4 chính thức)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27432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Họ thuật toán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Siêu tham số dò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(Dummy)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sánh mốc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(luôn đoán lớp đông hơn)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Tuyến tính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∈ {0.01, 0.1, 1, 10, 100}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Dựa trên khoảng cách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n_neighbors ∈ {3..15},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Tập thể (bagging)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 ∈ {100,200}, max_depth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∈ {0.1,1,10}, kernel ∈ {linear, rbf}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cách chia train/test (Bước 4), cùng tinh chỉnh bằng GridSearchCV (5-fold Stratified CV, scoring = F1) — chỉ trên tập train.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4754880"/>
          <a:ext cx="112471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trên tập test &amp; chọn model cuối cùng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949440" cy="3017520"/>
        </p:xfrm>
        <a:graphic>
          <a:graphicData uri="http://schemas.openxmlformats.org/drawingml/2006/table">
            <a:tbl>
              <a:tblPr/>
              <a:tblGrid>
                <a:gridCol w="138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(Dummy)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280160"/>
            <a:ext cx="4069080" cy="3017520"/>
          </a:xfrm>
          <a:prstGeom prst="roundRect">
            <a:avLst>
              <a:gd name="adj" fmla="val 3030"/>
            </a:avLst>
          </a:prstGeom>
          <a:solidFill>
            <a:srgbClr val="14301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638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D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ĐƯỢC CHỌN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4688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 nhất: 3,68 ms/mẫu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Nhẹ nhất: 8,5 KB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nhanh: 0,88s (so với 53,59s của SVM)</a:t>
            </a:r>
            <a:endParaRPr lang="en-US" sz="1250" dirty="0"/>
          </a:p>
        </p:txBody>
      </p:sp>
      <p:sp>
        <p:nvSpPr>
          <p:cNvPr id="5" name="Text 7"/>
          <p:cNvSpPr txBox="1"/>
          <p:nvPr/>
        </p:nvSpPr>
        <p:spPr>
          <a:xfrm>
            <a:off x="457200" y="4526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4 model đồng điểm tuyệt đối trên 1.625 mẫu test (0 False Negative — không bỏ sót ca nấm độc nào) → quyết định dựa trên chi phí vận hành thực tế (thời gian dự đoán, kích thước file).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đóng gói: ai-models/models/model.joblib (Pipeline hoàn chỉnh: One-Hot + Logistic Regression) + metadata.json + schema.json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:80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6B44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063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log + history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237744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1430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063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model.joblib nạp sẵn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—/api/*—→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8803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—/predict—→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thiết kế quan trọng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75488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tự sinh form 21 thuộc tính bằng cách gọi GET /api/schema — không hard-code danh sách cột.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request mang 1 request_id xuyên suốt 3 service để log/debug thống nhất.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chỉ/cổng giữa các service luôn đọc từ .env — không hard-code localhost/IP.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Docker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040880" cy="2926080"/>
        </p:xfrm>
        <a:graphic>
          <a:graphicData uri="http://schemas.openxmlformats.org/drawingml/2006/table">
            <a:tbl>
              <a:tblPr/>
              <a:tblGrid>
                <a:gridCol w="234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Chức năng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/health, /model-info, /schema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thái, thông tin model, 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/predict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Nhận 21 thuộc tính → dự đoán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/health, /api/schema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 + proxy schema cho 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/api/predict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Validate, forward, lưu lịch sử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Lịch sử dự đoán gần nhất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28016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4F1EA"/>
          </a:solidFill>
          <a:ln/>
        </p:spPr>
      </p:sp>
      <p:sp>
        <p:nvSpPr>
          <p:cNvPr id="7" name="Shape 4"/>
          <p:cNvSpPr/>
          <p:nvPr/>
        </p:nvSpPr>
        <p:spPr>
          <a:xfrm>
            <a:off x="7955280" y="1463040"/>
            <a:ext cx="502920" cy="502920"/>
          </a:xfrm>
          <a:prstGeom prst="ellipse">
            <a:avLst/>
          </a:prstGeom>
          <a:solidFill>
            <a:srgbClr val="6B442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552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container riêng: ai-service, backend, frontend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nạp NGAY khi container khởi động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mỗi service (GET /health)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qua tên service trong docker-compose.yml (không dùng localhost)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43484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1E1E1E"/>
          </a:solidFill>
          <a:ln/>
        </p:spPr>
      </p:sp>
      <p:sp>
        <p:nvSpPr>
          <p:cNvPr id="5" name="Text 9"/>
          <p:cNvSpPr txBox="1"/>
          <p:nvPr/>
        </p:nvSpPr>
        <p:spPr>
          <a:xfrm>
            <a:off x="685800" y="45720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.env.example .env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ai-service-1  | INFO: Uvicorn running on http://0.0.0.0:8001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Frontend: http://localhost:3000  |  Backend: :8000  |  AI Service: :8001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Triển khai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1 lần dự đoán (demo trực tiếp trên lớp)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83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chọn 21 đặc điểm trên 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3500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gửi POST /api/predict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1693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forward sang AI Service + gắn request_id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48386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validate + dự đoán bằng model.joblib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5079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0507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kết quả: Ăn được / Có độc + % tin cậy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2560" y="178308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EAF4EE"/>
          </a:solidFill>
          <a:ln/>
        </p:spPr>
      </p:sp>
      <p:sp>
        <p:nvSpPr>
          <p:cNvPr id="22" name="Shape 20"/>
          <p:cNvSpPr/>
          <p:nvPr/>
        </p:nvSpPr>
        <p:spPr>
          <a:xfrm>
            <a:off x="9281160" y="1965960"/>
            <a:ext cx="502920" cy="502920"/>
          </a:xfrm>
          <a:prstGeom prst="ellipse">
            <a:avLst/>
          </a:prstGeom>
          <a:solidFill>
            <a:srgbClr val="4C956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811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kiểm tra local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9718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chạy đúng cả 3 service, demo dự đoán thành công.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khai / Triển khai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 App: __________________  |  Địa chỉ AI Service: __________________  (điền trước buổi bảo vệ — xem README.md mục 11)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thử &amp; Khả năng khảo sát (Logging)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4F1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AI Service: validate input đúng/thiếu/sai giá trị (ai-models/service/tests/)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Backend: health, endpoint hợp lệ (app/backend/tests/)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test: mở địa chỉ thật, gửi 1 request hoàn chỉnh, xem log 3 service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tải: mô phỏng nhiều request đồng thời tới /api/predict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D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theo request_id (3 dịch vụ)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659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 req=7f3a  click Dự đoán → POST /api/predict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  req=7f3a  validate OK → gọi ai-service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ai-service req=7f3a  predict poisonous p=0.93 in 3.7ms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  req=7f3a  200 OK total 12ms, saved history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6576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Theo dõi được: docker compose logs -f &lt;service&gt; (local) hoặc trang Logs (cloud).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công công việc thành viên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viên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việc phụ trách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__________________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10123316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Dữ liệu &amp; AI Model: EDA, xử lý dữ liệu, huấn luyện &amp; tinh chỉnh 4 model, đánh giá trên tập test, đóng gói model, xây dựng AI Service.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__________________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10123333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Ứng dụng: xây dựng Backend (FastAPI), Frontend (React), Docker hoá 3 dịch vụ, kết nối hệ thống, triển khai.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2 thành viên đều nắm được toàn bộ quy trình (từ dữ liệu đến sản phẩm chạy thật) — sẵn sàng trả lời câu hỏi về bất kỳ phần nào khi bảo vệ.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457200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Git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074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thành viên làm việc trên nhánh riêng, hợp nhất qua git merge / Pull Request.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commit thể hiện rõ đóng góp riêng của từng người theo đúng tài khoản.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D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được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đầy đủ: EDA → xử lý → 5 model → đánh giá → đóng gói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3-tier chạy Docker, kết nối end-to-end thành công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đạt F1 = 1.0 trên tập test (Logistic Regression)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D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19456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chuẩn hoá cao (tách biệt gần hoàn hảo) — thực tế nhiễu hơn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dự đoán mới lưu RAM, chưa nối MongoDB Atlas thật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21 thuộc tính đòi hỏi người dùng hiểu thuật ngữ sinh học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D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19456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MongoDB Atlas lưu lịch sử lâu dài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ảnh minh hoạ cho từng giá trị thuộc tính trên Frontend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thêm mô hình Gradient Boosting / thử trên dữ liệu ảnh nấm thật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nấm ăn được hay có độc — Học máy cơ bản (221180)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94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🍄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 VÀ CÁC BẠN ĐÃ LẮNG NGHE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&amp; Thảo luận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2149</Words>
  <Application>Microsoft Office PowerPoint</Application>
  <PresentationFormat>Widescreen</PresentationFormat>
  <Paragraphs>314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Phạm Văn Khánh</cp:lastModifiedBy>
  <cp:revision>2</cp:revision>
  <dcterms:created xsi:type="dcterms:W3CDTF">2026-09-27T03:42:31Z</dcterms:created>
  <dcterms:modified xsi:type="dcterms:W3CDTF">2026-09-27T03:47:46Z</dcterms:modified>
</cp:coreProperties>
</file>